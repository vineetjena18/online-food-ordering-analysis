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5157-B3A7-4526-905B-21D8765849D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3A001D5-1C99-42B5-9EB2-7585D6099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279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5157-B3A7-4526-905B-21D8765849D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01D5-1C99-42B5-9EB2-7585D6099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892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5157-B3A7-4526-905B-21D8765849D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3A001D5-1C99-42B5-9EB2-7585D6099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029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5157-B3A7-4526-905B-21D8765849D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3A001D5-1C99-42B5-9EB2-7585D6099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255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5157-B3A7-4526-905B-21D8765849D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3A001D5-1C99-42B5-9EB2-7585D6099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233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5157-B3A7-4526-905B-21D8765849D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01D5-1C99-42B5-9EB2-7585D6099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285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5157-B3A7-4526-905B-21D8765849D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01D5-1C99-42B5-9EB2-7585D6099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610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5157-B3A7-4526-905B-21D8765849D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01D5-1C99-42B5-9EB2-7585D6099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1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5157-B3A7-4526-905B-21D8765849D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A001D5-1C99-42B5-9EB2-7585D6099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35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5157-B3A7-4526-905B-21D8765849D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3A001D5-1C99-42B5-9EB2-7585D6099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35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5157-B3A7-4526-905B-21D8765849D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3A001D5-1C99-42B5-9EB2-7585D60992A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5262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5157-B3A7-4526-905B-21D8765849D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A001D5-1C99-42B5-9EB2-7585D6099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9761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5157-B3A7-4526-905B-21D8765849D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A001D5-1C99-42B5-9EB2-7585D60992A6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5115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5157-B3A7-4526-905B-21D8765849D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A001D5-1C99-42B5-9EB2-7585D6099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911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5157-B3A7-4526-905B-21D8765849D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01D5-1C99-42B5-9EB2-7585D6099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697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5157-B3A7-4526-905B-21D8765849D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01D5-1C99-42B5-9EB2-7585D6099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054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55157-B3A7-4526-905B-21D8765849D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3A001D5-1C99-42B5-9EB2-7585D6099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260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51363-D6C2-2F7D-65EC-65A5DFCEA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8734" y="440266"/>
            <a:ext cx="7247466" cy="1972734"/>
          </a:xfrm>
        </p:spPr>
        <p:txBody>
          <a:bodyPr>
            <a:normAutofit/>
          </a:bodyPr>
          <a:lstStyle/>
          <a:p>
            <a:r>
              <a:rPr lang="en-US" b="1" u="sng" dirty="0" err="1">
                <a:solidFill>
                  <a:srgbClr val="0070C0"/>
                </a:solidFill>
              </a:rPr>
              <a:t>Cyclox</a:t>
            </a:r>
            <a:r>
              <a:rPr lang="en-US" dirty="0">
                <a:solidFill>
                  <a:srgbClr val="0070C0"/>
                </a:solidFill>
              </a:rPr>
              <a:t> - </a:t>
            </a:r>
            <a:r>
              <a:rPr lang="en-US" sz="4400" dirty="0">
                <a:solidFill>
                  <a:srgbClr val="0070C0"/>
                </a:solidFill>
              </a:rPr>
              <a:t>Online Food Ordering System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🧑‍🍳🥘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38B596-EDF4-8BF5-FAFD-BB53C8DD0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4599" y="3556000"/>
            <a:ext cx="5164668" cy="2760134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</a:rPr>
              <a:t>SQL Case Study Project</a:t>
            </a:r>
          </a:p>
          <a:p>
            <a:endParaRPr lang="en-US" b="1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          _____________________________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                    Vineet Jena</a:t>
            </a:r>
          </a:p>
        </p:txBody>
      </p:sp>
      <p:pic>
        <p:nvPicPr>
          <p:cNvPr id="5" name="Picture 4" descr="The image shows a plate of crispy, seasoned French fries topped with fresh lemon wedges and sprinkled with parmesan cheese.&#10;&#10;AI-generated content may be incorrect.">
            <a:extLst>
              <a:ext uri="{FF2B5EF4-FFF2-40B4-BE49-F238E27FC236}">
                <a16:creationId xmlns:a16="http://schemas.microsoft.com/office/drawing/2014/main" id="{9C34CA95-260B-4B68-13FB-85A4E7B86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559" y="2890698"/>
            <a:ext cx="2902374" cy="33942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The image shows a beautifully decorated, tri-layered chocolate cake, garnished with cocoa and chocolate shavings, ready to be served.&#10;&#10;AI-generated content may be incorrect.">
            <a:extLst>
              <a:ext uri="{FF2B5EF4-FFF2-40B4-BE49-F238E27FC236}">
                <a16:creationId xmlns:a16="http://schemas.microsoft.com/office/drawing/2014/main" id="{770059F3-EC1C-6ADA-A82A-3F4E263829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075" y="750218"/>
            <a:ext cx="2947966" cy="21404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8948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E8E72-A025-7FA6-F56C-E3CD548DA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858" y="607177"/>
            <a:ext cx="8911687" cy="857556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|</a:t>
            </a:r>
            <a:r>
              <a:rPr lang="en-US" dirty="0">
                <a:solidFill>
                  <a:srgbClr val="0070C0"/>
                </a:solidFill>
              </a:rPr>
              <a:t>Project Overview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3C222D-073C-AD76-2E6A-555C7096D162}"/>
              </a:ext>
            </a:extLst>
          </p:cNvPr>
          <p:cNvSpPr txBox="1"/>
          <p:nvPr/>
        </p:nvSpPr>
        <p:spPr>
          <a:xfrm>
            <a:off x="2711457" y="1700368"/>
            <a:ext cx="77194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To Analyze Online Food Ordering Data Using SQL To Gain Insights On Feedbacks, Most Ordered, Top Rated and Order History.</a:t>
            </a:r>
            <a:endParaRPr lang="en-IN" sz="2000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ACB134-3DEB-F852-6C7C-1E21C2A21EFD}"/>
              </a:ext>
            </a:extLst>
          </p:cNvPr>
          <p:cNvSpPr txBox="1"/>
          <p:nvPr/>
        </p:nvSpPr>
        <p:spPr>
          <a:xfrm>
            <a:off x="2711457" y="3064933"/>
            <a:ext cx="693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Tools : </a:t>
            </a:r>
            <a:r>
              <a:rPr lang="en-US" sz="2400" dirty="0">
                <a:solidFill>
                  <a:srgbClr val="0070C0"/>
                </a:solidFill>
              </a:rPr>
              <a:t>SQL (MySQL) , Excel</a:t>
            </a:r>
            <a:endParaRPr lang="en-IN" sz="2400" b="1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EA62EC-004A-FD4C-9DAB-467BC269B3FB}"/>
              </a:ext>
            </a:extLst>
          </p:cNvPr>
          <p:cNvSpPr txBox="1"/>
          <p:nvPr/>
        </p:nvSpPr>
        <p:spPr>
          <a:xfrm>
            <a:off x="2711457" y="4072467"/>
            <a:ext cx="483446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Focus Areas :</a:t>
            </a:r>
          </a:p>
          <a:p>
            <a:r>
              <a:rPr lang="en-US" sz="2400" dirty="0">
                <a:solidFill>
                  <a:srgbClr val="0070C0"/>
                </a:solidFill>
              </a:rPr>
              <a:t>Top-rated restaurants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Most ordered items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Customer order history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Total revenue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Customer feedback </a:t>
            </a:r>
          </a:p>
          <a:p>
            <a:endParaRPr lang="en-IN" sz="2400" dirty="0"/>
          </a:p>
        </p:txBody>
      </p:sp>
      <p:pic>
        <p:nvPicPr>
          <p:cNvPr id="7" name="Picture 6" descr="A delicious, freshly baked, cheese-topped pizza with basil leaves and a sprinkle of oregano.&#10;&#10;AI-generated content may be incorrect.">
            <a:extLst>
              <a:ext uri="{FF2B5EF4-FFF2-40B4-BE49-F238E27FC236}">
                <a16:creationId xmlns:a16="http://schemas.microsoft.com/office/drawing/2014/main" id="{1C27E977-B87F-323C-176F-6C0C61396D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278" y="2785533"/>
            <a:ext cx="3538442" cy="35501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9961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6EFF1-4C0E-A64B-BC1E-D39E41359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659" y="570279"/>
            <a:ext cx="6491809" cy="89989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|</a:t>
            </a:r>
            <a:r>
              <a:rPr lang="en-US" sz="4000" dirty="0">
                <a:solidFill>
                  <a:srgbClr val="0070C0"/>
                </a:solidFill>
              </a:rPr>
              <a:t>Dataset</a:t>
            </a:r>
            <a:r>
              <a:rPr lang="en-US" dirty="0">
                <a:solidFill>
                  <a:srgbClr val="0070C0"/>
                </a:solidFill>
              </a:rPr>
              <a:t> Summary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D86D81-9EC8-3495-1B7D-26843E485E47}"/>
              </a:ext>
            </a:extLst>
          </p:cNvPr>
          <p:cNvSpPr txBox="1"/>
          <p:nvPr/>
        </p:nvSpPr>
        <p:spPr>
          <a:xfrm>
            <a:off x="2406659" y="1689670"/>
            <a:ext cx="957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Customers Table : </a:t>
            </a:r>
            <a:r>
              <a:rPr lang="en-US" dirty="0" err="1">
                <a:solidFill>
                  <a:srgbClr val="0070C0"/>
                </a:solidFill>
              </a:rPr>
              <a:t>CustomerID</a:t>
            </a:r>
            <a:r>
              <a:rPr lang="en-US" dirty="0">
                <a:solidFill>
                  <a:srgbClr val="0070C0"/>
                </a:solidFill>
              </a:rPr>
              <a:t>, FirstName, LastName, Email, Phone, </a:t>
            </a:r>
            <a:r>
              <a:rPr lang="en-US" dirty="0" err="1">
                <a:solidFill>
                  <a:srgbClr val="0070C0"/>
                </a:solidFill>
              </a:rPr>
              <a:t>RegistrationDate</a:t>
            </a:r>
            <a:r>
              <a:rPr lang="en-US" dirty="0">
                <a:solidFill>
                  <a:srgbClr val="0070C0"/>
                </a:solidFill>
              </a:rPr>
              <a:t> 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9C7B55-766A-6CE6-5048-47B1E3B61A48}"/>
              </a:ext>
            </a:extLst>
          </p:cNvPr>
          <p:cNvSpPr txBox="1"/>
          <p:nvPr/>
        </p:nvSpPr>
        <p:spPr>
          <a:xfrm>
            <a:off x="2396068" y="2423869"/>
            <a:ext cx="915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Restaurants Table : </a:t>
            </a:r>
            <a:r>
              <a:rPr lang="en-US" dirty="0" err="1">
                <a:solidFill>
                  <a:srgbClr val="0070C0"/>
                </a:solidFill>
              </a:rPr>
              <a:t>RestaurantID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RestaurantName</a:t>
            </a:r>
            <a:r>
              <a:rPr lang="en-US" dirty="0">
                <a:solidFill>
                  <a:srgbClr val="0070C0"/>
                </a:solidFill>
              </a:rPr>
              <a:t>, Address, </a:t>
            </a:r>
            <a:r>
              <a:rPr lang="en-US" dirty="0" err="1">
                <a:solidFill>
                  <a:srgbClr val="0070C0"/>
                </a:solidFill>
              </a:rPr>
              <a:t>CuisineType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12EBE8-44A3-B2F1-8463-9E96BCC9ADD8}"/>
              </a:ext>
            </a:extLst>
          </p:cNvPr>
          <p:cNvSpPr txBox="1"/>
          <p:nvPr/>
        </p:nvSpPr>
        <p:spPr>
          <a:xfrm>
            <a:off x="2396068" y="3182666"/>
            <a:ext cx="932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Menu Items Table :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MenuItemID</a:t>
            </a:r>
            <a:r>
              <a:rPr lang="en-US" dirty="0">
                <a:solidFill>
                  <a:srgbClr val="0070C0"/>
                </a:solidFill>
              </a:rPr>
              <a:t>,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RestaurantID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ItemName</a:t>
            </a:r>
            <a:r>
              <a:rPr lang="en-US" dirty="0">
                <a:solidFill>
                  <a:srgbClr val="0070C0"/>
                </a:solidFill>
              </a:rPr>
              <a:t>, Price, Description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695673-68CE-3E13-CB57-738FFFE83FC4}"/>
              </a:ext>
            </a:extLst>
          </p:cNvPr>
          <p:cNvSpPr txBox="1"/>
          <p:nvPr/>
        </p:nvSpPr>
        <p:spPr>
          <a:xfrm>
            <a:off x="2396068" y="3991001"/>
            <a:ext cx="932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Orders : </a:t>
            </a:r>
            <a:r>
              <a:rPr lang="en-US" dirty="0" err="1">
                <a:solidFill>
                  <a:srgbClr val="0070C0"/>
                </a:solidFill>
              </a:rPr>
              <a:t>OrderID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CustomerID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RestaurantID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OrderDate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TotalAmount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9FFCF0-4AB8-DDC5-1F78-DD40EC75BB3D}"/>
              </a:ext>
            </a:extLst>
          </p:cNvPr>
          <p:cNvSpPr txBox="1"/>
          <p:nvPr/>
        </p:nvSpPr>
        <p:spPr>
          <a:xfrm>
            <a:off x="2406659" y="4769936"/>
            <a:ext cx="932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OrderDetails</a:t>
            </a:r>
            <a:r>
              <a:rPr lang="en-US" b="1" dirty="0"/>
              <a:t> Table : </a:t>
            </a:r>
            <a:r>
              <a:rPr lang="en-US" dirty="0" err="1">
                <a:solidFill>
                  <a:srgbClr val="0070C0"/>
                </a:solidFill>
              </a:rPr>
              <a:t>OrderDetailID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OrderID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MenuItemID</a:t>
            </a:r>
            <a:r>
              <a:rPr lang="en-US" dirty="0">
                <a:solidFill>
                  <a:srgbClr val="0070C0"/>
                </a:solidFill>
              </a:rPr>
              <a:t>, Quantity, </a:t>
            </a:r>
            <a:r>
              <a:rPr lang="en-US" dirty="0" err="1">
                <a:solidFill>
                  <a:srgbClr val="0070C0"/>
                </a:solidFill>
              </a:rPr>
              <a:t>ItemPrice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5D350E-BC7E-9AF8-62E3-8AA97899A0FD}"/>
              </a:ext>
            </a:extLst>
          </p:cNvPr>
          <p:cNvSpPr txBox="1"/>
          <p:nvPr/>
        </p:nvSpPr>
        <p:spPr>
          <a:xfrm>
            <a:off x="2406659" y="5528733"/>
            <a:ext cx="9719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Reviews Table : </a:t>
            </a:r>
            <a:r>
              <a:rPr lang="en-US" dirty="0" err="1">
                <a:solidFill>
                  <a:srgbClr val="0070C0"/>
                </a:solidFill>
              </a:rPr>
              <a:t>ReviewID</a:t>
            </a:r>
            <a:r>
              <a:rPr lang="en-US" dirty="0">
                <a:solidFill>
                  <a:srgbClr val="0070C0"/>
                </a:solidFill>
              </a:rPr>
              <a:t>,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RestaurantID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CustomerID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ReviewDate</a:t>
            </a:r>
            <a:r>
              <a:rPr lang="en-US" dirty="0">
                <a:solidFill>
                  <a:srgbClr val="0070C0"/>
                </a:solidFill>
              </a:rPr>
              <a:t>, Rating, Comments 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3088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61D3F3-1538-8CFF-8E8D-461C52E36B8B}"/>
              </a:ext>
            </a:extLst>
          </p:cNvPr>
          <p:cNvSpPr txBox="1"/>
          <p:nvPr/>
        </p:nvSpPr>
        <p:spPr>
          <a:xfrm>
            <a:off x="2455333" y="651933"/>
            <a:ext cx="7687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|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600" dirty="0">
                <a:solidFill>
                  <a:srgbClr val="0070C0"/>
                </a:solidFill>
              </a:rPr>
              <a:t>Database</a:t>
            </a:r>
            <a:r>
              <a:rPr lang="en-US" sz="3200" dirty="0">
                <a:solidFill>
                  <a:srgbClr val="0070C0"/>
                </a:solidFill>
              </a:rPr>
              <a:t> And Table Creation </a:t>
            </a:r>
            <a:endParaRPr lang="en-IN" sz="3200" dirty="0">
              <a:solidFill>
                <a:srgbClr val="0070C0"/>
              </a:solidFill>
            </a:endParaRPr>
          </a:p>
        </p:txBody>
      </p:sp>
      <p:pic>
        <p:nvPicPr>
          <p:cNvPr id="4" name="Picture 3" descr="This is a snippet of code showing the schema for an Online Food Ordering System database with three tables: Customers, Restaurants, and Menu Items, which includes relationships between them.&#10;&#10;AI-generated content may be incorrect.">
            <a:extLst>
              <a:ext uri="{FF2B5EF4-FFF2-40B4-BE49-F238E27FC236}">
                <a16:creationId xmlns:a16="http://schemas.microsoft.com/office/drawing/2014/main" id="{26A400B6-CEFE-98BB-E53D-AE1559756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14" y="1642534"/>
            <a:ext cx="4720586" cy="50772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This image displays a portion of an SQL database schema, featuring tables for 'Orders', 'OrderDetails', and 'Reviews' with primary and foreign keys.&#10;&#10;AI-generated content may be incorrect.">
            <a:extLst>
              <a:ext uri="{FF2B5EF4-FFF2-40B4-BE49-F238E27FC236}">
                <a16:creationId xmlns:a16="http://schemas.microsoft.com/office/drawing/2014/main" id="{CF8FDA1D-CDB7-55C5-F3EE-C4BEC40007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199" y="1642534"/>
            <a:ext cx="5287926" cy="50772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21463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3E60B3-415D-6C8A-0AA0-FD351F4BD87A}"/>
              </a:ext>
            </a:extLst>
          </p:cNvPr>
          <p:cNvSpPr txBox="1"/>
          <p:nvPr/>
        </p:nvSpPr>
        <p:spPr>
          <a:xfrm>
            <a:off x="2446867" y="634999"/>
            <a:ext cx="7484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|Inserted Data </a:t>
            </a:r>
            <a:endParaRPr lang="en-IN" sz="3600" dirty="0">
              <a:solidFill>
                <a:srgbClr val="0070C0"/>
              </a:solidFill>
            </a:endParaRPr>
          </a:p>
        </p:txBody>
      </p:sp>
      <p:pic>
        <p:nvPicPr>
          <p:cNvPr id="4" name="Picture 3" descr="The image displays a menu with various dishes, including pizzas, pastas, seafood, burgers, and sushi, each with their names, prices, and brief descriptions.&#10;&#10;AI-generated content may be incorrect.">
            <a:extLst>
              <a:ext uri="{FF2B5EF4-FFF2-40B4-BE49-F238E27FC236}">
                <a16:creationId xmlns:a16="http://schemas.microsoft.com/office/drawing/2014/main" id="{AA4C2DC6-943C-7A51-2CD6-BE77C459A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02" y="1660899"/>
            <a:ext cx="4986465" cy="45695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A table displaying various menu items, including Margherita Pizza, Lasagna Bolognese, Clam Chowder, Chicken Tikka Masala, and Truffle Fries, with their respective prices and descriptions.&#10;&#10;AI-generated content may be incorrect.">
            <a:extLst>
              <a:ext uri="{FF2B5EF4-FFF2-40B4-BE49-F238E27FC236}">
                <a16:creationId xmlns:a16="http://schemas.microsoft.com/office/drawing/2014/main" id="{CAD5B502-DBD5-2A49-C998-4D11C7DCA1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60899"/>
            <a:ext cx="5765680" cy="45695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4798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5AB493-43D7-E9E7-5BC0-A94343A77BB3}"/>
              </a:ext>
            </a:extLst>
          </p:cNvPr>
          <p:cNvSpPr txBox="1"/>
          <p:nvPr/>
        </p:nvSpPr>
        <p:spPr>
          <a:xfrm>
            <a:off x="1930400" y="643467"/>
            <a:ext cx="10363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|</a:t>
            </a:r>
            <a:r>
              <a:rPr lang="en-US" sz="3200" dirty="0">
                <a:solidFill>
                  <a:srgbClr val="0070C0"/>
                </a:solidFill>
              </a:rPr>
              <a:t>All menu items where the price is less than $10</a:t>
            </a:r>
            <a:endParaRPr lang="en-IN" sz="3200" dirty="0">
              <a:solidFill>
                <a:srgbClr val="0070C0"/>
              </a:solidFill>
            </a:endParaRPr>
          </a:p>
        </p:txBody>
      </p:sp>
      <p:pic>
        <p:nvPicPr>
          <p:cNvPr id="6" name="Picture 5" descr="The image shows a selection of a SQL query statement, specifically a `SELECT` statement from a table named 'MenuItems' where the condition is to choose all records (represented by `*`), filtered to show only those with a price less than 10.00.&#10;&#10;AI-generated content may be incorrect.">
            <a:extLst>
              <a:ext uri="{FF2B5EF4-FFF2-40B4-BE49-F238E27FC236}">
                <a16:creationId xmlns:a16="http://schemas.microsoft.com/office/drawing/2014/main" id="{60BEA874-961F-158A-262B-3C1F6A27E3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962" y="1639096"/>
            <a:ext cx="3033540" cy="10864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This is a menu display listing various dishes, their prices, and descriptions, including items like Tiramisu, Clam Chowder, Garlic Naan, Truffle Fries, Miso Soup, Guacamole &amp; Chips, Loaded Baked Potato, and Creamed Spinach.&#10;&#10;AI-generated content may be incorrect.">
            <a:extLst>
              <a:ext uri="{FF2B5EF4-FFF2-40B4-BE49-F238E27FC236}">
                <a16:creationId xmlns:a16="http://schemas.microsoft.com/office/drawing/2014/main" id="{88336785-3EE3-44F6-864E-3B5E0FE73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502" y="3074824"/>
            <a:ext cx="7914097" cy="26026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9012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A122CB-D5A6-28B1-7013-143011A4AAD6}"/>
              </a:ext>
            </a:extLst>
          </p:cNvPr>
          <p:cNvSpPr txBox="1"/>
          <p:nvPr/>
        </p:nvSpPr>
        <p:spPr>
          <a:xfrm>
            <a:off x="1921933" y="601133"/>
            <a:ext cx="107611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|</a:t>
            </a:r>
            <a:r>
              <a:rPr lang="en-US" sz="2800" dirty="0">
                <a:solidFill>
                  <a:srgbClr val="0070C0"/>
                </a:solidFill>
              </a:rPr>
              <a:t>All orders where the total amount is between $30 and $50 and the order date is in 2024.</a:t>
            </a:r>
            <a:endParaRPr lang="en-IN" sz="2800" dirty="0">
              <a:solidFill>
                <a:srgbClr val="0070C0"/>
              </a:solidFill>
            </a:endParaRPr>
          </a:p>
        </p:txBody>
      </p:sp>
      <p:pic>
        <p:nvPicPr>
          <p:cNvPr id="4" name="Picture 3" descr="The SQL query selects orders from a database with a total amount between 30 and 50, ordered by date within the year 2024.&#10;&#10;AI-generated content may be incorrect.">
            <a:extLst>
              <a:ext uri="{FF2B5EF4-FFF2-40B4-BE49-F238E27FC236}">
                <a16:creationId xmlns:a16="http://schemas.microsoft.com/office/drawing/2014/main" id="{B291B729-6FE9-06CF-83AA-A493D3F54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988" y="1851549"/>
            <a:ext cx="3471546" cy="13777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This is a table showing a list of orders, including customer IDs, restaurant IDs, order dates, and total amounts.&#10;&#10;AI-generated content may be incorrect.">
            <a:extLst>
              <a:ext uri="{FF2B5EF4-FFF2-40B4-BE49-F238E27FC236}">
                <a16:creationId xmlns:a16="http://schemas.microsoft.com/office/drawing/2014/main" id="{F5AE3D53-E283-F89C-B431-3E27A7BA7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466" y="3322454"/>
            <a:ext cx="6578814" cy="30275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9724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919BC3-3A9F-3243-0F14-A49687D4B5BE}"/>
              </a:ext>
            </a:extLst>
          </p:cNvPr>
          <p:cNvSpPr txBox="1"/>
          <p:nvPr/>
        </p:nvSpPr>
        <p:spPr>
          <a:xfrm>
            <a:off x="2015065" y="643466"/>
            <a:ext cx="10422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|</a:t>
            </a:r>
            <a:r>
              <a:rPr lang="en-US" sz="2800" dirty="0">
                <a:solidFill>
                  <a:srgbClr val="0070C0"/>
                </a:solidFill>
              </a:rPr>
              <a:t>All restaurants where the cuisine type contains 'Italian'.</a:t>
            </a:r>
            <a:endParaRPr lang="en-IN" sz="2800" dirty="0">
              <a:solidFill>
                <a:srgbClr val="0070C0"/>
              </a:solidFill>
            </a:endParaRPr>
          </a:p>
        </p:txBody>
      </p:sp>
      <p:pic>
        <p:nvPicPr>
          <p:cNvPr id="6" name="Picture 5" descr="The text is a snippet from an SQL query selecting Italian restaurants from a database.&#10;&#10;AI-generated content may be incorrect.">
            <a:extLst>
              <a:ext uri="{FF2B5EF4-FFF2-40B4-BE49-F238E27FC236}">
                <a16:creationId xmlns:a16="http://schemas.microsoft.com/office/drawing/2014/main" id="{1D642C96-A398-273D-2320-30734C64E3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78" y="1977514"/>
            <a:ext cx="5260144" cy="1335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The image displays a table with columns for RestaurantID, RestaurantName, Address, CuisineType, and additional NULL values.&#10;&#10;AI-generated content may be incorrect.">
            <a:extLst>
              <a:ext uri="{FF2B5EF4-FFF2-40B4-BE49-F238E27FC236}">
                <a16:creationId xmlns:a16="http://schemas.microsoft.com/office/drawing/2014/main" id="{A3D73C98-2CBE-C371-F34D-61B8C17A40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101" y="4000375"/>
            <a:ext cx="8210899" cy="12379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506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8C2953-29DC-F574-52EC-B5ABE4BCA51F}"/>
              </a:ext>
            </a:extLst>
          </p:cNvPr>
          <p:cNvSpPr txBox="1"/>
          <p:nvPr/>
        </p:nvSpPr>
        <p:spPr>
          <a:xfrm>
            <a:off x="2048933" y="575733"/>
            <a:ext cx="99737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|</a:t>
            </a:r>
            <a:r>
              <a:rPr lang="en-US" sz="2800" dirty="0">
                <a:solidFill>
                  <a:srgbClr val="0070C0"/>
                </a:solidFill>
              </a:rPr>
              <a:t>Item names and discounted price if the original price is greater than $15.</a:t>
            </a:r>
            <a:endParaRPr lang="en-IN" sz="2800" dirty="0">
              <a:solidFill>
                <a:srgbClr val="0070C0"/>
              </a:solidFill>
            </a:endParaRPr>
          </a:p>
        </p:txBody>
      </p:sp>
      <p:pic>
        <p:nvPicPr>
          <p:cNvPr id="4" name="Picture 3" descr="The image displays a SQL query snippet with a SELECT statement that includes a CASE expression to calculate a discounted price for items over $15.&#10;&#10;AI-generated content may be incorrect.">
            <a:extLst>
              <a:ext uri="{FF2B5EF4-FFF2-40B4-BE49-F238E27FC236}">
                <a16:creationId xmlns:a16="http://schemas.microsoft.com/office/drawing/2014/main" id="{A5015291-9F5D-4F09-7EFF-0144314784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266" y="1933366"/>
            <a:ext cx="4233333" cy="14956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The image displays a table listing various food items with their original and discounted prices.&#10;&#10;AI-generated content may be incorrect.">
            <a:extLst>
              <a:ext uri="{FF2B5EF4-FFF2-40B4-BE49-F238E27FC236}">
                <a16:creationId xmlns:a16="http://schemas.microsoft.com/office/drawing/2014/main" id="{29431162-2B7D-DDAC-0FEE-C803BEDE10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397" y="3429000"/>
            <a:ext cx="5300336" cy="31305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4057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FA0364-754F-419D-FB68-4CE0075C8A55}"/>
              </a:ext>
            </a:extLst>
          </p:cNvPr>
          <p:cNvSpPr txBox="1"/>
          <p:nvPr/>
        </p:nvSpPr>
        <p:spPr>
          <a:xfrm>
            <a:off x="2040466" y="575733"/>
            <a:ext cx="96943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|</a:t>
            </a:r>
            <a:r>
              <a:rPr lang="en-US" sz="2800" dirty="0">
                <a:solidFill>
                  <a:srgbClr val="0070C0"/>
                </a:solidFill>
              </a:rPr>
              <a:t>All customers who have placed orders totaling more than $1000.</a:t>
            </a:r>
            <a:endParaRPr lang="en-IN" sz="2800" dirty="0">
              <a:solidFill>
                <a:srgbClr val="0070C0"/>
              </a:solidFill>
            </a:endParaRPr>
          </a:p>
        </p:txBody>
      </p:sp>
      <p:pic>
        <p:nvPicPr>
          <p:cNvPr id="6" name="Picture 5" descr="The provided text describes a SQL query selecting customer names from a database where their total order amount exceeds $1000.&#10;&#10;AI-generated content may be incorrect.">
            <a:extLst>
              <a:ext uri="{FF2B5EF4-FFF2-40B4-BE49-F238E27FC236}">
                <a16:creationId xmlns:a16="http://schemas.microsoft.com/office/drawing/2014/main" id="{D6C061B4-B2E7-6A66-BA86-803B4CA7C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570" y="1807633"/>
            <a:ext cx="3427629" cy="1760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The image displays a table with columns for 'First Name' and 'Last Name', listing various individuals such as Andrew Hernandez, Jessica Flores, Ashley Williams, and others.&#10;&#10;AI-generated content may be incorrect.">
            <a:extLst>
              <a:ext uri="{FF2B5EF4-FFF2-40B4-BE49-F238E27FC236}">
                <a16:creationId xmlns:a16="http://schemas.microsoft.com/office/drawing/2014/main" id="{C71F8BAF-A5BE-E8AA-1EB5-56ED79D611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771" y="3567847"/>
            <a:ext cx="3663563" cy="29072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4281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603181-529D-BFE7-DD19-EB3CA5BA47C8}"/>
              </a:ext>
            </a:extLst>
          </p:cNvPr>
          <p:cNvSpPr txBox="1"/>
          <p:nvPr/>
        </p:nvSpPr>
        <p:spPr>
          <a:xfrm>
            <a:off x="2023533" y="592668"/>
            <a:ext cx="1016846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|</a:t>
            </a:r>
            <a:r>
              <a:rPr lang="en-US" sz="3200" dirty="0">
                <a:solidFill>
                  <a:srgbClr val="0070C0"/>
                </a:solidFill>
              </a:rPr>
              <a:t>Total number of orders placed at each restaurant</a:t>
            </a:r>
            <a:endParaRPr lang="en-IN" sz="3200" dirty="0">
              <a:solidFill>
                <a:srgbClr val="0070C0"/>
              </a:solidFill>
            </a:endParaRPr>
          </a:p>
        </p:txBody>
      </p:sp>
      <p:pic>
        <p:nvPicPr>
          <p:cNvPr id="4" name="Picture 3" descr="The image displays a table or database query result, listing restaurant IDs with their corresponding total number of orders.&#10;&#10;AI-generated content may be incorrect.">
            <a:extLst>
              <a:ext uri="{FF2B5EF4-FFF2-40B4-BE49-F238E27FC236}">
                <a16:creationId xmlns:a16="http://schemas.microsoft.com/office/drawing/2014/main" id="{84F9DC44-A85F-1AC1-D812-D157BF132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020" y="1865800"/>
            <a:ext cx="5010980" cy="11060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This is a table listing various Restaurant IDs alongside their corresponding number of total orders.&#10;&#10;AI-generated content may be incorrect.">
            <a:extLst>
              <a:ext uri="{FF2B5EF4-FFF2-40B4-BE49-F238E27FC236}">
                <a16:creationId xmlns:a16="http://schemas.microsoft.com/office/drawing/2014/main" id="{0A6EAA35-843E-91F9-E1A1-C9B87E2AC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335" y="2971814"/>
            <a:ext cx="3471331" cy="36127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1199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DAD234-C3CB-BEC1-17E5-7BC767A05E94}"/>
              </a:ext>
            </a:extLst>
          </p:cNvPr>
          <p:cNvSpPr txBox="1"/>
          <p:nvPr/>
        </p:nvSpPr>
        <p:spPr>
          <a:xfrm>
            <a:off x="2015067" y="618066"/>
            <a:ext cx="98721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|</a:t>
            </a:r>
            <a:r>
              <a:rPr lang="en-US" sz="2800" dirty="0">
                <a:solidFill>
                  <a:srgbClr val="0070C0"/>
                </a:solidFill>
              </a:rPr>
              <a:t>Total amount of orders for each restaurant along with totals greater than $500.</a:t>
            </a:r>
            <a:endParaRPr lang="en-IN" sz="2800" dirty="0">
              <a:solidFill>
                <a:srgbClr val="0070C0"/>
              </a:solidFill>
            </a:endParaRPr>
          </a:p>
        </p:txBody>
      </p:sp>
      <p:pic>
        <p:nvPicPr>
          <p:cNvPr id="4" name="Picture 3" descr="The SQL query calculates the total revenue per restaurant, filtering for those with revenue over $500.&#10;&#10;AI-generated content may be incorrect.">
            <a:extLst>
              <a:ext uri="{FF2B5EF4-FFF2-40B4-BE49-F238E27FC236}">
                <a16:creationId xmlns:a16="http://schemas.microsoft.com/office/drawing/2014/main" id="{A3C1F1D0-57EC-34BE-AB91-9ABDDC045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01" y="1960488"/>
            <a:ext cx="4789113" cy="11383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The table displays the total revenue figures for a list of restaurants, ranging from $1,993.75 to $10,475.12.&#10;&#10;AI-generated content may be incorrect.">
            <a:extLst>
              <a:ext uri="{FF2B5EF4-FFF2-40B4-BE49-F238E27FC236}">
                <a16:creationId xmlns:a16="http://schemas.microsoft.com/office/drawing/2014/main" id="{BA960303-5936-BD5E-353A-0106FCA161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133" y="3098800"/>
            <a:ext cx="3280443" cy="34407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0306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4D2A48-7023-F938-8C51-03205D5DE436}"/>
              </a:ext>
            </a:extLst>
          </p:cNvPr>
          <p:cNvSpPr txBox="1"/>
          <p:nvPr/>
        </p:nvSpPr>
        <p:spPr>
          <a:xfrm>
            <a:off x="2040466" y="567267"/>
            <a:ext cx="7603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|</a:t>
            </a:r>
            <a:r>
              <a:rPr lang="en-US" sz="2800" dirty="0">
                <a:solidFill>
                  <a:srgbClr val="0070C0"/>
                </a:solidFill>
              </a:rPr>
              <a:t>Top 3 most expensive menu items</a:t>
            </a:r>
            <a:endParaRPr lang="en-IN" sz="2800" dirty="0">
              <a:solidFill>
                <a:srgbClr val="0070C0"/>
              </a:solidFill>
            </a:endParaRPr>
          </a:p>
        </p:txBody>
      </p:sp>
      <p:pic>
        <p:nvPicPr>
          <p:cNvPr id="4" name="Picture 3" descr="The image displays a SQL query extracting the top three most expensive menu items from a database, sorted in descending order.&#10;&#10;AI-generated content may be incorrect.">
            <a:extLst>
              <a:ext uri="{FF2B5EF4-FFF2-40B4-BE49-F238E27FC236}">
                <a16:creationId xmlns:a16="http://schemas.microsoft.com/office/drawing/2014/main" id="{185AB22E-6E3F-2F56-2B97-6E6EF7D3A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12" y="1550003"/>
            <a:ext cx="2689100" cy="16441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The image displays a table with various menu items, including dishes like Ribeye Steak, Peking Duck, and Beef Bourguignon, along with their respective prices and descriptions.&#10;&#10;AI-generated content may be incorrect.">
            <a:extLst>
              <a:ext uri="{FF2B5EF4-FFF2-40B4-BE49-F238E27FC236}">
                <a16:creationId xmlns:a16="http://schemas.microsoft.com/office/drawing/2014/main" id="{4B14E3CA-AED2-927E-F05C-1B61DFB6E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807" y="3530600"/>
            <a:ext cx="8010460" cy="14136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3831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6EE5C8-552D-781B-FDF6-69E419DA0068}"/>
              </a:ext>
            </a:extLst>
          </p:cNvPr>
          <p:cNvSpPr txBox="1"/>
          <p:nvPr/>
        </p:nvSpPr>
        <p:spPr>
          <a:xfrm>
            <a:off x="1998133" y="575733"/>
            <a:ext cx="96096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|</a:t>
            </a:r>
            <a:r>
              <a:rPr lang="en-US" sz="2800" dirty="0">
                <a:solidFill>
                  <a:srgbClr val="0070C0"/>
                </a:solidFill>
              </a:rPr>
              <a:t>All orders with customer names, order dates, and total amounts</a:t>
            </a:r>
            <a:endParaRPr lang="en-IN" sz="2800" dirty="0">
              <a:solidFill>
                <a:srgbClr val="0070C0"/>
              </a:solidFill>
            </a:endParaRPr>
          </a:p>
        </p:txBody>
      </p:sp>
      <p:pic>
        <p:nvPicPr>
          <p:cNvPr id="4" name="Picture 3" descr="The image depicts a SQL query selecting customer names and order details from an 'Orders' table, joined with a 'Customers' table on a common 'CustomerID'.&#10;&#10;AI-generated content may be incorrect.">
            <a:extLst>
              <a:ext uri="{FF2B5EF4-FFF2-40B4-BE49-F238E27FC236}">
                <a16:creationId xmlns:a16="http://schemas.microsoft.com/office/drawing/2014/main" id="{356FEA16-8A0D-4F21-179B-3473CDA47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093" y="1871702"/>
            <a:ext cx="5444293" cy="8714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The image displays a table with columns for First Name, Last Name, Order Date, and Total Amount, listing various customer orders.&#10;&#10;AI-generated content may be incorrect.">
            <a:extLst>
              <a:ext uri="{FF2B5EF4-FFF2-40B4-BE49-F238E27FC236}">
                <a16:creationId xmlns:a16="http://schemas.microsoft.com/office/drawing/2014/main" id="{4BB77C04-16D0-76A7-9F04-4231E7957A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126" y="2743199"/>
            <a:ext cx="4545781" cy="31933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2956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32B8CB-B4A8-9455-042E-7D08CB8EA30C}"/>
              </a:ext>
            </a:extLst>
          </p:cNvPr>
          <p:cNvSpPr txBox="1"/>
          <p:nvPr/>
        </p:nvSpPr>
        <p:spPr>
          <a:xfrm>
            <a:off x="1955800" y="524934"/>
            <a:ext cx="100922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3600" b="1" dirty="0">
                <a:solidFill>
                  <a:srgbClr val="0070C0"/>
                </a:solidFill>
              </a:rPr>
              <a:t>|</a:t>
            </a:r>
            <a:r>
              <a:rPr lang="en-US" sz="2800" dirty="0">
                <a:solidFill>
                  <a:srgbClr val="0070C0"/>
                </a:solidFill>
              </a:rPr>
              <a:t>All menu items and associated order details with items that might not have been ordered</a:t>
            </a:r>
            <a:endParaRPr lang="en-IN" sz="2800" dirty="0">
              <a:solidFill>
                <a:srgbClr val="0070C0"/>
              </a:solidFill>
            </a:endParaRPr>
          </a:p>
        </p:txBody>
      </p:sp>
      <p:pic>
        <p:nvPicPr>
          <p:cNvPr id="4" name="Picture 3" descr="The provided text is a snippet of a SQL query selecting menu item names, quantities, and order IDs, with a left outer join joining menu items to order details based on a common item identifier.&#10;&#10;AI-generated content may be incorrect.">
            <a:extLst>
              <a:ext uri="{FF2B5EF4-FFF2-40B4-BE49-F238E27FC236}">
                <a16:creationId xmlns:a16="http://schemas.microsoft.com/office/drawing/2014/main" id="{DAE76465-5796-BA36-32FB-F12E6EB34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08" y="1734553"/>
            <a:ext cx="5496692" cy="7811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The text appears to be a list of Italian dishes with associated numerical values, possibly representing quantities, prices, or ratings.&#10;&#10;AI-generated content may be incorrect.">
            <a:extLst>
              <a:ext uri="{FF2B5EF4-FFF2-40B4-BE49-F238E27FC236}">
                <a16:creationId xmlns:a16="http://schemas.microsoft.com/office/drawing/2014/main" id="{16AFBB3F-5B0B-51C8-5E7F-37AE2C193A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061" y="2948545"/>
            <a:ext cx="3317728" cy="31643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The text lists various quantities of different food items, including Clam Chowder and Grilled Salmon, each with associated numbers.&#10;&#10;AI-generated content may be incorrect.">
            <a:extLst>
              <a:ext uri="{FF2B5EF4-FFF2-40B4-BE49-F238E27FC236}">
                <a16:creationId xmlns:a16="http://schemas.microsoft.com/office/drawing/2014/main" id="{ED938937-0604-2DF2-8889-93431FAB81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842" y="2948545"/>
            <a:ext cx="3317728" cy="3166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8505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6FD70E-6DDD-13E7-A099-1862964715D8}"/>
              </a:ext>
            </a:extLst>
          </p:cNvPr>
          <p:cNvSpPr txBox="1"/>
          <p:nvPr/>
        </p:nvSpPr>
        <p:spPr>
          <a:xfrm>
            <a:off x="1888067" y="584200"/>
            <a:ext cx="97705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 </a:t>
            </a:r>
            <a:r>
              <a:rPr lang="en-US" sz="3600" b="1" dirty="0">
                <a:solidFill>
                  <a:srgbClr val="0070C0"/>
                </a:solidFill>
              </a:rPr>
              <a:t>|</a:t>
            </a:r>
            <a:r>
              <a:rPr lang="en-US" sz="2800" dirty="0">
                <a:solidFill>
                  <a:srgbClr val="0070C0"/>
                </a:solidFill>
              </a:rPr>
              <a:t>Total number of menu items available in each restaurant.</a:t>
            </a:r>
            <a:endParaRPr lang="en-IN" sz="2800" dirty="0">
              <a:solidFill>
                <a:srgbClr val="0070C0"/>
              </a:solidFill>
            </a:endParaRPr>
          </a:p>
        </p:txBody>
      </p:sp>
      <p:pic>
        <p:nvPicPr>
          <p:cNvPr id="4" name="Picture 3" descr="The image displays a SQL query selecting the total number of menu items for each restaurant.&#10;&#10;AI-generated content may be incorrect.">
            <a:extLst>
              <a:ext uri="{FF2B5EF4-FFF2-40B4-BE49-F238E27FC236}">
                <a16:creationId xmlns:a16="http://schemas.microsoft.com/office/drawing/2014/main" id="{21EDA0DE-084D-AC7E-CC97-AB041D593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531" y="1904401"/>
            <a:ext cx="4982270" cy="10002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The image displays a list of various restaurants and their corresponding number of menu items, with each entry having a count of three.&#10;&#10;AI-generated content may be incorrect.">
            <a:extLst>
              <a:ext uri="{FF2B5EF4-FFF2-40B4-BE49-F238E27FC236}">
                <a16:creationId xmlns:a16="http://schemas.microsoft.com/office/drawing/2014/main" id="{28395E08-F6A9-A1C0-CB84-073096012D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5196" y="2904666"/>
            <a:ext cx="3722871" cy="3262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3737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9B1D2E-A76D-4EF2-BCC0-453827B58D66}"/>
              </a:ext>
            </a:extLst>
          </p:cNvPr>
          <p:cNvSpPr txBox="1"/>
          <p:nvPr/>
        </p:nvSpPr>
        <p:spPr>
          <a:xfrm>
            <a:off x="2082800" y="558801"/>
            <a:ext cx="97959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|</a:t>
            </a:r>
            <a:r>
              <a:rPr lang="en-US" sz="2800" dirty="0">
                <a:solidFill>
                  <a:srgbClr val="0070C0"/>
                </a:solidFill>
              </a:rPr>
              <a:t>All restaurants that have a rating of more than 4.0 from at least 3 different customers.</a:t>
            </a:r>
            <a:endParaRPr lang="en-IN" sz="2800" dirty="0">
              <a:solidFill>
                <a:srgbClr val="0070C0"/>
              </a:solidFill>
            </a:endParaRPr>
          </a:p>
        </p:txBody>
      </p:sp>
      <p:pic>
        <p:nvPicPr>
          <p:cNvPr id="4" name="Picture 3" descr="This image shows a snippet of an SQL query selecting restaurant names from a table where the restaurants have a rating of 4.0 or higher and have been reviewed by at least three different customers.&#10;&#10;AI-generated content may be incorrect.">
            <a:extLst>
              <a:ext uri="{FF2B5EF4-FFF2-40B4-BE49-F238E27FC236}">
                <a16:creationId xmlns:a16="http://schemas.microsoft.com/office/drawing/2014/main" id="{576F135C-D9F9-6A14-A24C-E08170C7A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249" y="1772552"/>
            <a:ext cx="3879751" cy="2281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Steakhouse 76.&#10;&#10;AI-generated content may be incorrect.">
            <a:extLst>
              <a:ext uri="{FF2B5EF4-FFF2-40B4-BE49-F238E27FC236}">
                <a16:creationId xmlns:a16="http://schemas.microsoft.com/office/drawing/2014/main" id="{0097EE72-ABB6-7CC8-973B-3A69377C2D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136" y="3736417"/>
            <a:ext cx="2633131" cy="29566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42650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61D4FF-0896-FBBF-E137-C49FE423BCEA}"/>
              </a:ext>
            </a:extLst>
          </p:cNvPr>
          <p:cNvSpPr txBox="1"/>
          <p:nvPr/>
        </p:nvSpPr>
        <p:spPr>
          <a:xfrm>
            <a:off x="1972733" y="575733"/>
            <a:ext cx="101007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|</a:t>
            </a:r>
            <a:r>
              <a:rPr lang="en-US" sz="2800" dirty="0">
                <a:solidFill>
                  <a:srgbClr val="0070C0"/>
                </a:solidFill>
              </a:rPr>
              <a:t>All restaurants with their menu items including those with no items</a:t>
            </a:r>
            <a:endParaRPr lang="en-IN" sz="2800" dirty="0">
              <a:solidFill>
                <a:srgbClr val="0070C0"/>
              </a:solidFill>
            </a:endParaRPr>
          </a:p>
        </p:txBody>
      </p:sp>
      <p:pic>
        <p:nvPicPr>
          <p:cNvPr id="4" name="Picture 3" descr="This SQL query selects the restaurant names, item names, and prices from a database, joining the Restaurants and MenuItems tables on the RestaurantID.&#10;&#10;AI-generated content may be incorrect.">
            <a:extLst>
              <a:ext uri="{FF2B5EF4-FFF2-40B4-BE49-F238E27FC236}">
                <a16:creationId xmlns:a16="http://schemas.microsoft.com/office/drawing/2014/main" id="{CA1AC885-2E0A-2553-F224-3E8987BDE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309" y="1796503"/>
            <a:ext cx="4953691" cy="15337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The image displays a restaurant menu listing various dishes along with their prices.&#10;&#10;AI-generated content may be incorrect.">
            <a:extLst>
              <a:ext uri="{FF2B5EF4-FFF2-40B4-BE49-F238E27FC236}">
                <a16:creationId xmlns:a16="http://schemas.microsoft.com/office/drawing/2014/main" id="{91E218DA-21AE-886D-9349-57BE33E678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518" y="3330242"/>
            <a:ext cx="3793814" cy="2952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5087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ank You&#10;&#10;AI-generated content may be incorrect.">
            <a:extLst>
              <a:ext uri="{FF2B5EF4-FFF2-40B4-BE49-F238E27FC236}">
                <a16:creationId xmlns:a16="http://schemas.microsoft.com/office/drawing/2014/main" id="{51C55145-F176-DB0B-6D1C-65272F72E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46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26447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288</TotalTime>
  <Words>327</Words>
  <Application>Microsoft Office PowerPoint</Application>
  <PresentationFormat>Widescreen</PresentationFormat>
  <Paragraphs>37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Wisp</vt:lpstr>
      <vt:lpstr>Cyclox - Online Food Ordering System🧑‍🍳🥘</vt:lpstr>
      <vt:lpstr>|Project Overview</vt:lpstr>
      <vt:lpstr>|Dataset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vineetjena18@outlook.com</dc:creator>
  <cp:lastModifiedBy>vineetjena18@outlook.com</cp:lastModifiedBy>
  <cp:revision>10</cp:revision>
  <dcterms:created xsi:type="dcterms:W3CDTF">2026-04-26T12:39:06Z</dcterms:created>
  <dcterms:modified xsi:type="dcterms:W3CDTF">2026-05-04T09:14:27Z</dcterms:modified>
</cp:coreProperties>
</file>